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 Genre Classification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High-Level Audio 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2926080" cy="50292"/>
          </a:xfrm>
          <a:prstGeom prst="rect">
            <a:avLst/>
          </a:prstGeom>
          <a:solidFill>
            <a:srgbClr val="8B949E">
              <a:alpha val="60000"/>
            </a:srgbClr>
          </a:solidFill>
          <a:ln w="12700">
            <a:solidFill>
              <a:srgbClr val="8B949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CMP-466: Machine Learning and Data Mining  |  Fall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Hady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Vivek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34747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DB954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♪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1612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11612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3957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0" y="23957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Model Selection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630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Decision Tree · KNN · Naïve Bayes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3630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streaming platforms require automatic genre classification for search, discovery, and recommendation at massive scale.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 exist: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Raw audio / spectrograms (MFCCs)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High-level tabular audio descriptors (Spotify API)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approach (b) — widely available, computationally efficient, and interpretable.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in Prior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preprocessing documentation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genre sets (10–13 classes)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Accuracy-only reporting hides class failures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Contribution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3200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end-to-end pipeline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genres — largest label set in comparable work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preprocessing &amp; encoding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multi-metric evaluation (Accuracy, F1, AUC)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874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33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874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33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1874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033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056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960120"/>
            <a:ext cx="1874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033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3796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/ Genre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41148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Breakdown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26334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track_id, artists, album_name, track_name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035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(Numerical):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30358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danceability, energy, loudness, tempo,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valence, acousticness, speechiness, 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38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74520" y="34381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mode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3840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(0–11), time_signature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74520" y="42428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track_genre (114 classes)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41148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Descriptive Stats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578608"/>
          <a:ext cx="3886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960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</a:rPr>
                        <a:t>Mean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</a:rPr>
                        <a:t>Std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Danceability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0.57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0.17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Energy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0.64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0.25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Loudness (dB)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-8.26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5.03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Tempo (BPM)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122.15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29.98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Acousticness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0.31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Valence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0.47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0.26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22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Spotify Tracks Dataset — Kaggle / Hugging Face (maharshipandya)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0759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Listwise Deletion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71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removed (0.00088% loss)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preserved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63347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697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non-informative columns dropped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(IDs, names, artist — leakage prevention)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95935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Conversion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explicit: bool → int (0/1)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30759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7528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1371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(12 cols) + time_signature (5 cols)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3347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7528" y="2697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track_genre → integers 0–113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95935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Z-score Scaling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continuous features → μ=0, σ=1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(fit on train only — no leakage)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1A3320"/>
          </a:solidFill>
          <a:ln w="12700">
            <a:solidFill>
              <a:srgbClr val="1A33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 113,999 rows  ×  29 features  +  1 target  |  Balanced: ~1,000 samples per genre  |  Random baseline ≈ 0.88%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 &amp; Model Selection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 Neighbors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5237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Non-parametric, instance-based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k, distance metric, weights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vs. Euclidean 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vs. distance weighting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7432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743200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01568" y="1325880"/>
            <a:ext cx="25237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binary splitting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 / Entropy criteria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hyperparameters tuned individually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max_depth, min_samples_split,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nodes, ccp_alpha, 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Naïve Bayes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27648" y="1325880"/>
            <a:ext cx="25237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— Bayes' Theorem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variants tested: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(continuous features)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(binary) · Multinomial (counts)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holdout  ·  5-fold cross-validation on training set  ·  Optimised by Macro F1-score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Dimensionality Reduction — PCA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principal components  ·  ≥ 90% variance retained  ·  Applied to all three models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Decision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Tuning (Individual)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886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</a:rPr>
                        <a:t>Optimal Value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</a:rPr>
                        <a:t>CV Macro F1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max_depth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16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F1 = 0.1787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min_samples_split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45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F1 = 0.1838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min_samples_leaf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16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F1 = 0.1829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max_leaf_nodes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4,500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F1 = 0.1912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ccp_alpha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Any &gt; 0 degraded perf.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min_impurity_decrease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92F"/>
                          </a:solidFill>
                        </a:rPr>
                        <a:t>Any &gt; 0 degraded perf.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96012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Performance Evaluation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8862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868680"/>
                <a:gridCol w="82296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Feature Set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Macro F1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AUC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4292F"/>
                          </a:solidFill>
                        </a:rPr>
                        <a:t>Original ✓ Best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0.2570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0.25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B954"/>
                          </a:solidFill>
                        </a:rPr>
                        <a:t>0.8530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292F"/>
                          </a:solidFill>
                        </a:rPr>
                        <a:t>PCA Features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292F"/>
                          </a:solidFill>
                        </a:rPr>
                        <a:t>0.1928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292F"/>
                          </a:solidFill>
                        </a:rPr>
                        <a:t>0.18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292F"/>
                          </a:solidFill>
                        </a:rPr>
                        <a:t>0.8155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828800" y="3749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low raw accuracy (high-cardinality task with 114 classes), the AUC of 0.853 shows strong probabilistic class separability. Original features outperformed PCA — the tree's non-linear splits leverage the full feature space more effectively than rotated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K-Nearest Neighbors (KNN)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Search (Combination)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configurations evaluated  (2 feature sets × 3 k-values × 2 metrics × 2 weights)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109728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9 optimal across both feature sets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203704"/>
            <a:ext cx="109728" cy="2743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03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&gt; Euclidean at every 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097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weighting &gt; Uniform consistently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109728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improved performance for KNN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 k=9  ·  Manhattan  ·  Distance  ·  PCA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Performance Evaluation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886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08760"/>
                <a:gridCol w="777240"/>
                <a:gridCol w="685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Feature Set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k / Metric / Weights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Macro F1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</a:rPr>
                        <a:t>Original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</a:rPr>
                        <a:t>9 / Manhattan / Distance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</a:rPr>
                        <a:t>0.2365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</a:rPr>
                        <a:t>0.2330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4292F"/>
                          </a:solidFill>
                        </a:rPr>
                        <a:t>PCA ✓ Best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9 / Manhattan / Distance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0.2442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0.2403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80060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(OvR):  Original = 0.7210  ·  PCA = 0.7238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E6F6FF"/>
          </a:solidFill>
          <a:ln w="12700">
            <a:solidFill>
              <a:srgbClr val="E6F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864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28800" y="3749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improved KNN by reducing feature redundancy, making distance comparisons more meaningful. AUC of 0.7238 confirms reasonable class separability despite the difficulty of 114-class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Naïve Bayes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063240"/>
          </a:xfrm>
          <a:prstGeom prst="rect">
            <a:avLst/>
          </a:prstGeom>
          <a:solidFill>
            <a:srgbClr val="F0FAF3"/>
          </a:solidFill>
          <a:ln w="12700">
            <a:solidFill>
              <a:srgbClr val="F0FA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2926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Gaussian NB  —  Best overall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13533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23042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0.1779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27797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(OvR):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32552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0.8629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96012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960120"/>
            <a:ext cx="27432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Bernoulli NB  —  2nd best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3533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23042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0.1486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27797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0.1163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255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(OvR):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2552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96012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960120"/>
            <a:ext cx="274320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Multinomial NB  —  Weakest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1353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80960" y="13533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80960" y="1828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80960" y="23042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80960" y="27797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0.0749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255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(OvR):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80960" y="32552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0.7907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160520"/>
            <a:ext cx="8412480" cy="868680"/>
          </a:xfrm>
          <a:prstGeom prst="rect">
            <a:avLst/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828800" y="417880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 (PCA) achieved the highest AUC (0.8629) of all models — even outperforming the Decision Tree — despite its lower accuracy. This reflects well-calibrated probabilities. Feature independence assumption limits hard predictions, but PCA partially mitigates this.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Algorithm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Feature Set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Macro F1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AUC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Decision Tree ★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Original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0.2570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0.25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0.8530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Decision Tree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PCA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0.1928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0.18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0.8155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KNN ★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PCA (k=9, Manhattan, Dist.)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0.2442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0.2403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0.7238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KNN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Original (k=9, Manhattan, Dist.)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0.2365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0.2330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0.7210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Gaussian NB ★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PCA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0.1779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0.1422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0.8629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Bernoulli NB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Original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0.1486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0.1163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0.8460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Multinomial NB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Original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0.0911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0.0749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0.7907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50208"/>
            <a:ext cx="91440" cy="2011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50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helped KNN &amp; NB but hurt Decision Tree — algorithm-dependent effect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4224528"/>
            <a:ext cx="9144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24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far exceeded random baseline (~0.88%), confirming audio features carry genre signal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4498848"/>
            <a:ext cx="914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has highest AUC (0.8629) despite lowest accuracy — well-calibrated probabilities vs. hard predictions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4773168"/>
            <a:ext cx="9144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114-genre cardinality creates overlap ceiling unachievable by single classical models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3210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332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end-to-end pipeline for 114-genre music classification using Spotify tabular audio features. Three algorithms (Decision Trees, KNN, Naïve Bayes) systematically benchmarked across original and PCA-reduced feature sets, with full multi-metric evaluation (Accuracy, Precision, Recall, F1, AUC, Confusion Matrix).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32104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8163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 &amp; Key Findings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32004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Decision Tree on original features — Accuracy 25.70%, Macro F1 0.25, AUC 0.853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Performance Gap: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360273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lower than literature due to 114-genre cardinality vs. typical 10–13 genre studies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PCA Effect: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400507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for KNN (+0.77% acc) and Naïve Bayes, harmful for Decision Tree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074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Bottleneck: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440740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overlap of Spotify features — danceability, loudness, valence insufficient to cleanly separate 114 genres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28016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maharshipandya. Spotify Tracks Dataset. Hugging Face Datasets, 2025.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39903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Cabansag &amp; Ntegeka. Prediction of Spotify Chart Success using Audio and Streaming Features. arXiv, 2025.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Du, J.L. Spotify Between Decades: Hit or Miss Predictor. Tilburg University, 2022.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40487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6888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Jiang, S. Predicting Music Popularity: A Machine Learning Approach Using Spotify Data. SCITEPRESS, 2024.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90779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718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Feng, Liu &amp; Yao. Music Genre Classification with Paralleling Recurrent CNN. arXiv, 2017.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41071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747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Singhal, Srivatsan &amp; Panda. Classification of Music Genres using Feature Selection and Hyperparameter Tuning. JAICN, 2022.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91363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776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Fiqri et al. Implementation of Supervised Learning Algorithm on Spotify Dataset. IJATIS, 2025.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4416552"/>
            <a:ext cx="8321040" cy="0"/>
          </a:xfrm>
          <a:prstGeom prst="line">
            <a:avLst/>
          </a:prstGeom>
          <a:noFill/>
          <a:ln w="6350">
            <a:solidFill>
              <a:srgbClr val="DC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4805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Wu, Y. Predicting Hit Songs Using Spotify Tracks Dataset. Scholarly Review, 2025/2026.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2026-04-22T13:04:20Z</dcterms:created>
  <dcterms:modified xsi:type="dcterms:W3CDTF">2026-04-22T13:04:20Z</dcterms:modified>
</cp:coreProperties>
</file>